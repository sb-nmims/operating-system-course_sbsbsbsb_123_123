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6" r:id="rId4"/>
    <p:sldId id="258" r:id="rId5"/>
    <p:sldId id="259" r:id="rId6"/>
    <p:sldId id="260" r:id="rId7"/>
    <p:sldId id="261" r:id="rId8"/>
    <p:sldId id="262" r:id="rId9"/>
    <p:sldId id="263" r:id="rId10"/>
    <p:sldId id="264" r:id="rId11"/>
    <p:sldId id="278" r:id="rId12"/>
    <p:sldId id="265" r:id="rId13"/>
    <p:sldId id="266" r:id="rId14"/>
    <p:sldId id="267" r:id="rId15"/>
    <p:sldId id="268" r:id="rId16"/>
    <p:sldId id="269" r:id="rId17"/>
    <p:sldId id="270" r:id="rId18"/>
    <p:sldId id="271" r:id="rId19"/>
    <p:sldId id="272" r:id="rId20"/>
    <p:sldId id="277" r:id="rId21"/>
    <p:sldId id="274" r:id="rId22"/>
    <p:sldId id="27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92B7547-ECF2-48C5-ACF2-2AD57B2F8061}" type="datetimeFigureOut">
              <a:rPr lang="en-US" smtClean="0"/>
              <a:pPr/>
              <a:t>1/1/2007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2B7547-ECF2-48C5-ACF2-2AD57B2F8061}" type="datetimeFigureOut">
              <a:rPr lang="en-US" smtClean="0"/>
              <a:pPr/>
              <a:t>1/1/2007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2B7547-ECF2-48C5-ACF2-2AD57B2F8061}" type="datetimeFigureOut">
              <a:rPr lang="en-US" smtClean="0"/>
              <a:pPr/>
              <a:t>1/1/2007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92B7547-ECF2-48C5-ACF2-2AD57B2F8061}" type="datetimeFigureOut">
              <a:rPr lang="en-US" smtClean="0"/>
              <a:pPr/>
              <a:t>1/1/2007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2B7547-ECF2-48C5-ACF2-2AD57B2F8061}" type="datetimeFigureOut">
              <a:rPr lang="en-US" smtClean="0"/>
              <a:pPr/>
              <a:t>1/1/2007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2B7547-ECF2-48C5-ACF2-2AD57B2F8061}" type="datetimeFigureOut">
              <a:rPr lang="en-US" smtClean="0"/>
              <a:pPr/>
              <a:t>1/1/2007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B7547-ECF2-48C5-ACF2-2AD57B2F8061}" type="datetimeFigureOut">
              <a:rPr lang="en-US" smtClean="0"/>
              <a:pPr/>
              <a:t>1/1/2007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2B7547-ECF2-48C5-ACF2-2AD57B2F8061}" type="datetimeFigureOut">
              <a:rPr lang="en-US" smtClean="0"/>
              <a:pPr/>
              <a:t>1/1/2007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2B7547-ECF2-48C5-ACF2-2AD57B2F8061}" type="datetimeFigureOut">
              <a:rPr lang="en-US" smtClean="0"/>
              <a:pPr/>
              <a:t>1/1/2007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2B7547-ECF2-48C5-ACF2-2AD57B2F8061}" type="datetimeFigureOut">
              <a:rPr lang="en-US" smtClean="0"/>
              <a:pPr/>
              <a:t>1/1/2007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2B7547-ECF2-48C5-ACF2-2AD57B2F8061}" type="datetimeFigureOut">
              <a:rPr lang="en-US" smtClean="0"/>
              <a:pPr/>
              <a:t>1/1/2007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9B9574-C8E2-4C76-8105-B04A834B7A7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2B7547-ECF2-48C5-ACF2-2AD57B2F8061}" type="datetimeFigureOut">
              <a:rPr lang="en-US" smtClean="0"/>
              <a:pPr/>
              <a:t>1/1/2007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9B9574-C8E2-4C76-8105-B04A834B7A7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accent6">
                    <a:lumMod val="75000"/>
                  </a:schemeClr>
                </a:solidFill>
                <a:latin typeface="Times New Roman" pitchFamily="18" charset="0"/>
                <a:cs typeface="Times New Roman" pitchFamily="18" charset="0"/>
              </a:rPr>
              <a:t>Fundamentals 0f Operating System</a:t>
            </a:r>
            <a:endParaRPr lang="en-US" dirty="0">
              <a:solidFill>
                <a:schemeClr val="accent6">
                  <a:lumMod val="75000"/>
                </a:schemeClr>
              </a:solidFill>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Necessity of OS</a:t>
            </a:r>
            <a:endParaRPr lang="en-US" dirty="0">
              <a:solidFill>
                <a:srgbClr val="002060"/>
              </a:solidFill>
            </a:endParaRPr>
          </a:p>
        </p:txBody>
      </p:sp>
      <p:sp>
        <p:nvSpPr>
          <p:cNvPr id="3" name="Content Placeholder 2"/>
          <p:cNvSpPr>
            <a:spLocks noGrp="1"/>
          </p:cNvSpPr>
          <p:nvPr>
            <p:ph idx="1"/>
          </p:nvPr>
        </p:nvSpPr>
        <p:spPr>
          <a:xfrm>
            <a:off x="457200" y="1295400"/>
            <a:ext cx="8229600" cy="5181600"/>
          </a:xfrm>
        </p:spPr>
        <p:txBody>
          <a:bodyPr/>
          <a:lstStyle/>
          <a:p>
            <a:r>
              <a:rPr lang="en-US" dirty="0" smtClean="0">
                <a:latin typeface="Times New Roman" pitchFamily="18" charset="0"/>
                <a:cs typeface="Times New Roman" pitchFamily="18" charset="0"/>
              </a:rPr>
              <a:t>OS is an interface between user and hardware</a:t>
            </a: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Is OS really required ?</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grpSp>
        <p:nvGrpSpPr>
          <p:cNvPr id="12" name="Group 11"/>
          <p:cNvGrpSpPr/>
          <p:nvPr/>
        </p:nvGrpSpPr>
        <p:grpSpPr>
          <a:xfrm>
            <a:off x="1524000" y="2971800"/>
            <a:ext cx="5715000" cy="838200"/>
            <a:chOff x="1981200" y="2286000"/>
            <a:chExt cx="5715000" cy="838200"/>
          </a:xfrm>
        </p:grpSpPr>
        <p:sp>
          <p:nvSpPr>
            <p:cNvPr id="4" name="Rectangle 3"/>
            <p:cNvSpPr/>
            <p:nvPr/>
          </p:nvSpPr>
          <p:spPr>
            <a:xfrm>
              <a:off x="1981200" y="2286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USER</a:t>
              </a:r>
              <a:endParaRPr lang="en-US" dirty="0"/>
            </a:p>
          </p:txBody>
        </p:sp>
        <p:sp>
          <p:nvSpPr>
            <p:cNvPr id="6" name="Rectangle 5"/>
            <p:cNvSpPr/>
            <p:nvPr/>
          </p:nvSpPr>
          <p:spPr>
            <a:xfrm>
              <a:off x="3886200" y="2286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OS</a:t>
              </a:r>
              <a:endParaRPr lang="en-US" dirty="0"/>
            </a:p>
          </p:txBody>
        </p:sp>
        <p:sp>
          <p:nvSpPr>
            <p:cNvPr id="7" name="Rectangle 6"/>
            <p:cNvSpPr/>
            <p:nvPr/>
          </p:nvSpPr>
          <p:spPr>
            <a:xfrm>
              <a:off x="6019800" y="2286000"/>
              <a:ext cx="1676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COMPUTER  HARDWARE</a:t>
              </a:r>
              <a:endParaRPr lang="en-US" dirty="0"/>
            </a:p>
          </p:txBody>
        </p:sp>
        <p:cxnSp>
          <p:nvCxnSpPr>
            <p:cNvPr id="9" name="Straight Arrow Connector 8"/>
            <p:cNvCxnSpPr>
              <a:stCxn id="4" idx="3"/>
              <a:endCxn id="6" idx="1"/>
            </p:cNvCxnSpPr>
            <p:nvPr/>
          </p:nvCxnSpPr>
          <p:spPr>
            <a:xfrm>
              <a:off x="3124200" y="27051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7" idx="1"/>
            </p:cNvCxnSpPr>
            <p:nvPr/>
          </p:nvCxnSpPr>
          <p:spPr>
            <a:xfrm>
              <a:off x="5029200" y="2705100"/>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5">
                    <a:lumMod val="75000"/>
                  </a:schemeClr>
                </a:solidFill>
                <a:latin typeface="Times New Roman" pitchFamily="18" charset="0"/>
                <a:cs typeface="Times New Roman" pitchFamily="18" charset="0"/>
              </a:rPr>
              <a:t>Example 1</a:t>
            </a:r>
            <a:br>
              <a:rPr lang="en-US" dirty="0" smtClean="0">
                <a:solidFill>
                  <a:schemeClr val="accent5">
                    <a:lumMod val="75000"/>
                  </a:schemeClr>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Is it possible to run this program without OS ?</a:t>
            </a:r>
          </a:p>
          <a:p>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752600" y="2743200"/>
            <a:ext cx="41910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To execute this program MM, CPU is required which is available.</a:t>
            </a:r>
          </a:p>
          <a:p>
            <a:r>
              <a:rPr lang="en-US" dirty="0" smtClean="0">
                <a:latin typeface="Times New Roman" pitchFamily="18" charset="0"/>
                <a:cs typeface="Times New Roman" pitchFamily="18" charset="0"/>
              </a:rPr>
              <a:t>OS is not required for the execution of any program because ultimately the program consist of machine level instructions.</a:t>
            </a:r>
          </a:p>
          <a:p>
            <a:r>
              <a:rPr lang="en-US" dirty="0" smtClean="0">
                <a:latin typeface="Times New Roman" pitchFamily="18" charset="0"/>
                <a:cs typeface="Times New Roman" pitchFamily="18" charset="0"/>
              </a:rPr>
              <a:t>Hence there is no role of OS.</a:t>
            </a:r>
          </a:p>
          <a:p>
            <a:r>
              <a:rPr lang="en-US" dirty="0">
                <a:latin typeface="Times New Roman" pitchFamily="18" charset="0"/>
                <a:cs typeface="Times New Roman" pitchFamily="18" charset="0"/>
              </a:rPr>
              <a:t> W</a:t>
            </a:r>
            <a:r>
              <a:rPr lang="en-US" dirty="0" smtClean="0">
                <a:latin typeface="Times New Roman" pitchFamily="18" charset="0"/>
                <a:cs typeface="Times New Roman" pitchFamily="18" charset="0"/>
              </a:rPr>
              <a:t>hy OS is used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800" dirty="0" smtClean="0">
                <a:latin typeface="Times New Roman" pitchFamily="18" charset="0"/>
                <a:cs typeface="Times New Roman" pitchFamily="18" charset="0"/>
              </a:rPr>
              <a:t>Device driver is required to interact with I/O device.</a:t>
            </a:r>
          </a:p>
          <a:p>
            <a:r>
              <a:rPr lang="en-US" sz="2800" dirty="0" smtClean="0">
                <a:latin typeface="Times New Roman" pitchFamily="18" charset="0"/>
                <a:cs typeface="Times New Roman" pitchFamily="18" charset="0"/>
              </a:rPr>
              <a:t>It is an I/O program to control the activity of an I/O device.</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marL="571500" indent="-571500">
              <a:buAutoNum type="romanLcParenR"/>
            </a:pPr>
            <a:r>
              <a:rPr lang="en-US" dirty="0" smtClean="0">
                <a:latin typeface="Times New Roman" pitchFamily="18" charset="0"/>
                <a:cs typeface="Times New Roman" pitchFamily="18" charset="0"/>
              </a:rPr>
              <a:t>Check printer is on</a:t>
            </a:r>
          </a:p>
          <a:p>
            <a:pPr marL="571500" indent="-571500">
              <a:buAutoNum type="romanLcParenR"/>
            </a:pPr>
            <a:r>
              <a:rPr lang="en-US" dirty="0" smtClean="0">
                <a:latin typeface="Times New Roman" pitchFamily="18" charset="0"/>
                <a:cs typeface="Times New Roman" pitchFamily="18" charset="0"/>
              </a:rPr>
              <a:t>Is it able to print data</a:t>
            </a:r>
          </a:p>
          <a:p>
            <a:pPr marL="571500" indent="-571500">
              <a:buAutoNum type="romanLcParenR"/>
            </a:pPr>
            <a:r>
              <a:rPr lang="en-US" dirty="0" smtClean="0">
                <a:latin typeface="Times New Roman" pitchFamily="18" charset="0"/>
                <a:cs typeface="Times New Roman" pitchFamily="18" charset="0"/>
              </a:rPr>
              <a:t>Send data to the buffer </a:t>
            </a:r>
          </a:p>
          <a:p>
            <a:pPr marL="571500" indent="-571500">
              <a:buAutoNum type="romanLcParenR"/>
            </a:pPr>
            <a:r>
              <a:rPr lang="en-US" dirty="0" smtClean="0">
                <a:latin typeface="Times New Roman" pitchFamily="18" charset="0"/>
                <a:cs typeface="Times New Roman" pitchFamily="18" charset="0"/>
              </a:rPr>
              <a:t>Then data is printed</a:t>
            </a:r>
          </a:p>
          <a:p>
            <a:endParaRPr lang="en-US" dirty="0">
              <a:latin typeface="Times New Roman" pitchFamily="18" charset="0"/>
              <a:cs typeface="Times New Roman" pitchFamily="18" charset="0"/>
            </a:endParaRPr>
          </a:p>
        </p:txBody>
      </p:sp>
      <p:grpSp>
        <p:nvGrpSpPr>
          <p:cNvPr id="9" name="Group 8"/>
          <p:cNvGrpSpPr/>
          <p:nvPr/>
        </p:nvGrpSpPr>
        <p:grpSpPr>
          <a:xfrm>
            <a:off x="1371600" y="2209800"/>
            <a:ext cx="6019800" cy="990600"/>
            <a:chOff x="1371600" y="2895600"/>
            <a:chExt cx="6019800" cy="990600"/>
          </a:xfrm>
        </p:grpSpPr>
        <p:sp>
          <p:nvSpPr>
            <p:cNvPr id="4" name="Rectangle 3"/>
            <p:cNvSpPr/>
            <p:nvPr/>
          </p:nvSpPr>
          <p:spPr>
            <a:xfrm>
              <a:off x="1371600" y="2895600"/>
              <a:ext cx="1447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OS</a:t>
              </a:r>
              <a:endParaRPr lang="en-US" sz="2400" dirty="0"/>
            </a:p>
          </p:txBody>
        </p:sp>
        <p:sp>
          <p:nvSpPr>
            <p:cNvPr id="5" name="Rectangle 4"/>
            <p:cNvSpPr/>
            <p:nvPr/>
          </p:nvSpPr>
          <p:spPr>
            <a:xfrm>
              <a:off x="3657600" y="2895600"/>
              <a:ext cx="1447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itchFamily="18" charset="0"/>
                  <a:cs typeface="Times New Roman" pitchFamily="18" charset="0"/>
                </a:rPr>
                <a:t>DEVICE DRIVER</a:t>
              </a:r>
              <a:endParaRPr lang="en-US" sz="2400" dirty="0">
                <a:latin typeface="Times New Roman" pitchFamily="18" charset="0"/>
                <a:cs typeface="Times New Roman" pitchFamily="18" charset="0"/>
              </a:endParaRPr>
            </a:p>
          </p:txBody>
        </p:sp>
        <p:sp>
          <p:nvSpPr>
            <p:cNvPr id="6" name="Rectangle 5"/>
            <p:cNvSpPr/>
            <p:nvPr/>
          </p:nvSpPr>
          <p:spPr>
            <a:xfrm>
              <a:off x="5943600" y="2895600"/>
              <a:ext cx="1447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INPUT/OUTPUT DEVICE</a:t>
              </a:r>
              <a:endParaRPr lang="en-US" sz="2000" dirty="0"/>
            </a:p>
          </p:txBody>
        </p:sp>
        <p:cxnSp>
          <p:nvCxnSpPr>
            <p:cNvPr id="8" name="Straight Arrow Connector 7"/>
            <p:cNvCxnSpPr>
              <a:stCxn id="4" idx="3"/>
              <a:endCxn id="5" idx="1"/>
            </p:cNvCxnSpPr>
            <p:nvPr/>
          </p:nvCxnSpPr>
          <p:spPr>
            <a:xfrm>
              <a:off x="2819400" y="33909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3"/>
              <a:endCxn id="6" idx="1"/>
            </p:cNvCxnSpPr>
            <p:nvPr/>
          </p:nvCxnSpPr>
          <p:spPr>
            <a:xfrm>
              <a:off x="5105400" y="33909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marL="571500" indent="-571500">
              <a:buNone/>
            </a:pPr>
            <a:endParaRPr lang="en-US" sz="2400" dirty="0">
              <a:latin typeface="Times New Roman" pitchFamily="18" charset="0"/>
              <a:cs typeface="Times New Roman" pitchFamily="18" charset="0"/>
            </a:endParaRPr>
          </a:p>
          <a:p>
            <a:pPr marL="571500" indent="-571500">
              <a:buFont typeface="Wingdings" pitchFamily="2" charset="2"/>
              <a:buChar char="Ø"/>
            </a:pPr>
            <a:r>
              <a:rPr lang="en-US" sz="2400" dirty="0" smtClean="0">
                <a:solidFill>
                  <a:schemeClr val="accent2">
                    <a:lumMod val="75000"/>
                  </a:schemeClr>
                </a:solidFill>
                <a:latin typeface="Times New Roman" pitchFamily="18" charset="0"/>
                <a:cs typeface="Times New Roman" pitchFamily="18" charset="0"/>
              </a:rPr>
              <a:t>Problem</a:t>
            </a:r>
          </a:p>
          <a:p>
            <a:pPr marL="571500" indent="-571500"/>
            <a:r>
              <a:rPr lang="en-US" sz="2400" dirty="0">
                <a:solidFill>
                  <a:schemeClr val="accent2">
                    <a:lumMod val="75000"/>
                  </a:schemeClr>
                </a:solidFill>
                <a:latin typeface="Times New Roman" pitchFamily="18" charset="0"/>
                <a:cs typeface="Times New Roman" pitchFamily="18" charset="0"/>
              </a:rPr>
              <a:t> </a:t>
            </a:r>
            <a:r>
              <a:rPr lang="en-US" sz="2400" dirty="0" smtClean="0">
                <a:solidFill>
                  <a:schemeClr val="accent2">
                    <a:lumMod val="75000"/>
                  </a:schemeClr>
                </a:solidFill>
                <a:latin typeface="Times New Roman" pitchFamily="18" charset="0"/>
                <a:cs typeface="Times New Roman" pitchFamily="18" charset="0"/>
              </a:rPr>
              <a:t>I/O device understand the language of signals </a:t>
            </a:r>
          </a:p>
          <a:p>
            <a:pPr marL="571500" indent="-571500"/>
            <a:r>
              <a:rPr lang="en-US" sz="2400" dirty="0" smtClean="0">
                <a:solidFill>
                  <a:schemeClr val="accent2">
                    <a:lumMod val="75000"/>
                  </a:schemeClr>
                </a:solidFill>
                <a:latin typeface="Times New Roman" pitchFamily="18" charset="0"/>
                <a:cs typeface="Times New Roman" pitchFamily="18" charset="0"/>
              </a:rPr>
              <a:t>CPU can understand your instructions but I/O can not</a:t>
            </a:r>
          </a:p>
          <a:p>
            <a:pPr marL="571500" indent="-571500">
              <a:buNone/>
            </a:pPr>
            <a:endParaRPr lang="en-US" sz="2400" dirty="0">
              <a:solidFill>
                <a:schemeClr val="accent2">
                  <a:lumMod val="75000"/>
                </a:schemeClr>
              </a:solidFill>
              <a:latin typeface="Times New Roman" pitchFamily="18" charset="0"/>
              <a:cs typeface="Times New Roman" pitchFamily="18" charset="0"/>
            </a:endParaRPr>
          </a:p>
          <a:p>
            <a:pPr marL="571500" indent="-571500">
              <a:buNone/>
            </a:pPr>
            <a:endParaRPr lang="en-US" sz="2400" dirty="0">
              <a:solidFill>
                <a:schemeClr val="accent2">
                  <a:lumMod val="7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Autofit/>
          </a:bodyPr>
          <a:lstStyle/>
          <a:p>
            <a:r>
              <a:rPr lang="en-US" sz="2800" dirty="0" smtClean="0">
                <a:latin typeface="Times New Roman" pitchFamily="18" charset="0"/>
                <a:cs typeface="Times New Roman" pitchFamily="18" charset="0"/>
              </a:rPr>
              <a:t>Device controller is used </a:t>
            </a:r>
          </a:p>
          <a:p>
            <a:endParaRPr lang="en-US" sz="2800" dirty="0" smtClean="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DC Generates signal (to move head on tracks and sectors</a:t>
            </a:r>
          </a:p>
          <a:p>
            <a:pPr marL="571500" indent="-571500">
              <a:buAutoNum type="romanLcParenR"/>
            </a:pPr>
            <a:r>
              <a:rPr lang="en-US" sz="2800" dirty="0" smtClean="0">
                <a:latin typeface="Times New Roman" pitchFamily="18" charset="0"/>
                <a:cs typeface="Times New Roman" pitchFamily="18" charset="0"/>
              </a:rPr>
              <a:t>Initialize the head </a:t>
            </a:r>
          </a:p>
          <a:p>
            <a:pPr marL="571500" indent="-571500">
              <a:buAutoNum type="romanLcParenR"/>
            </a:pPr>
            <a:r>
              <a:rPr lang="en-US" sz="2800" dirty="0" smtClean="0">
                <a:latin typeface="Times New Roman" pitchFamily="18" charset="0"/>
                <a:cs typeface="Times New Roman" pitchFamily="18" charset="0"/>
              </a:rPr>
              <a:t>Accept the character </a:t>
            </a:r>
          </a:p>
          <a:p>
            <a:pPr marL="571500" indent="-571500">
              <a:buAutoNum type="romanLcParenR"/>
            </a:pPr>
            <a:r>
              <a:rPr lang="en-US" sz="2800" dirty="0" smtClean="0">
                <a:latin typeface="Times New Roman" pitchFamily="18" charset="0"/>
                <a:cs typeface="Times New Roman" pitchFamily="18" charset="0"/>
              </a:rPr>
              <a:t>Print character</a:t>
            </a:r>
            <a:endParaRPr lang="en-US" sz="2800" dirty="0">
              <a:latin typeface="Times New Roman" pitchFamily="18" charset="0"/>
              <a:cs typeface="Times New Roman" pitchFamily="18" charset="0"/>
            </a:endParaRPr>
          </a:p>
        </p:txBody>
      </p:sp>
      <p:grpSp>
        <p:nvGrpSpPr>
          <p:cNvPr id="19" name="Group 18"/>
          <p:cNvGrpSpPr/>
          <p:nvPr/>
        </p:nvGrpSpPr>
        <p:grpSpPr>
          <a:xfrm>
            <a:off x="838200" y="1828800"/>
            <a:ext cx="6934200" cy="990600"/>
            <a:chOff x="1295400" y="2590800"/>
            <a:chExt cx="6934200" cy="990600"/>
          </a:xfrm>
        </p:grpSpPr>
        <p:sp>
          <p:nvSpPr>
            <p:cNvPr id="4" name="Rectangle 3"/>
            <p:cNvSpPr/>
            <p:nvPr/>
          </p:nvSpPr>
          <p:spPr>
            <a:xfrm>
              <a:off x="1295400" y="2590800"/>
              <a:ext cx="1295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itchFamily="18" charset="0"/>
                  <a:cs typeface="Times New Roman" pitchFamily="18" charset="0"/>
                </a:rPr>
                <a:t>OS</a:t>
              </a:r>
              <a:endParaRPr lang="en-US" sz="2400" dirty="0">
                <a:latin typeface="Times New Roman" pitchFamily="18" charset="0"/>
                <a:cs typeface="Times New Roman" pitchFamily="18" charset="0"/>
              </a:endParaRPr>
            </a:p>
          </p:txBody>
        </p:sp>
        <p:sp>
          <p:nvSpPr>
            <p:cNvPr id="5" name="Rectangle 4"/>
            <p:cNvSpPr/>
            <p:nvPr/>
          </p:nvSpPr>
          <p:spPr>
            <a:xfrm>
              <a:off x="3124200" y="2590800"/>
              <a:ext cx="1295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DEVICE DRIVER</a:t>
              </a:r>
              <a:endParaRPr lang="en-US" dirty="0"/>
            </a:p>
          </p:txBody>
        </p:sp>
        <p:sp>
          <p:nvSpPr>
            <p:cNvPr id="6" name="Rectangle 5"/>
            <p:cNvSpPr/>
            <p:nvPr/>
          </p:nvSpPr>
          <p:spPr>
            <a:xfrm>
              <a:off x="4876800" y="2590800"/>
              <a:ext cx="1447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DEVICE CONTROLLER</a:t>
              </a:r>
              <a:endParaRPr lang="en-US" dirty="0"/>
            </a:p>
          </p:txBody>
        </p:sp>
        <p:sp>
          <p:nvSpPr>
            <p:cNvPr id="7" name="Rectangle 6"/>
            <p:cNvSpPr/>
            <p:nvPr/>
          </p:nvSpPr>
          <p:spPr>
            <a:xfrm>
              <a:off x="6934200" y="2590800"/>
              <a:ext cx="1295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I/O DEVICE</a:t>
              </a:r>
              <a:endParaRPr lang="en-US" dirty="0"/>
            </a:p>
          </p:txBody>
        </p:sp>
        <p:cxnSp>
          <p:nvCxnSpPr>
            <p:cNvPr id="9" name="Straight Arrow Connector 8"/>
            <p:cNvCxnSpPr>
              <a:stCxn id="4" idx="3"/>
              <a:endCxn id="5" idx="1"/>
            </p:cNvCxnSpPr>
            <p:nvPr/>
          </p:nvCxnSpPr>
          <p:spPr>
            <a:xfrm>
              <a:off x="2590800" y="30861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3"/>
              <a:endCxn id="6" idx="1"/>
            </p:cNvCxnSpPr>
            <p:nvPr/>
          </p:nvCxnSpPr>
          <p:spPr>
            <a:xfrm>
              <a:off x="4419600" y="30861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a:endCxn id="7" idx="1"/>
            </p:cNvCxnSpPr>
            <p:nvPr/>
          </p:nvCxnSpPr>
          <p:spPr>
            <a:xfrm>
              <a:off x="6324600" y="30861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Example 2</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If user wants to write a program p1.c and require to store this program on hard disk</a:t>
            </a:r>
          </a:p>
          <a:p>
            <a:r>
              <a:rPr lang="en-US" dirty="0" smtClean="0">
                <a:latin typeface="Times New Roman" pitchFamily="18" charset="0"/>
                <a:cs typeface="Times New Roman" pitchFamily="18" charset="0"/>
              </a:rPr>
              <a:t>The user need to do following :</a:t>
            </a:r>
          </a:p>
          <a:p>
            <a:pPr marL="571500" indent="-571500">
              <a:buAutoNum type="romanLcParenR"/>
            </a:pPr>
            <a:r>
              <a:rPr lang="en-US" dirty="0" smtClean="0">
                <a:latin typeface="Times New Roman" pitchFamily="18" charset="0"/>
                <a:cs typeface="Times New Roman" pitchFamily="18" charset="0"/>
              </a:rPr>
              <a:t>Check space is available or not</a:t>
            </a:r>
          </a:p>
          <a:p>
            <a:pPr marL="571500" indent="-571500">
              <a:buAutoNum type="romanLcParenR"/>
            </a:pPr>
            <a:r>
              <a:rPr lang="en-US" dirty="0" smtClean="0">
                <a:latin typeface="Times New Roman" pitchFamily="18" charset="0"/>
                <a:cs typeface="Times New Roman" pitchFamily="18" charset="0"/>
              </a:rPr>
              <a:t>Where is it available –track no., sector no.</a:t>
            </a:r>
          </a:p>
          <a:p>
            <a:pPr marL="571500" indent="-571500">
              <a:buAutoNum type="romanLcParenR"/>
            </a:pPr>
            <a:r>
              <a:rPr lang="en-US" dirty="0" smtClean="0">
                <a:latin typeface="Times New Roman" pitchFamily="18" charset="0"/>
                <a:cs typeface="Times New Roman" pitchFamily="18" charset="0"/>
              </a:rPr>
              <a:t>Store the data on track no., sector no.</a:t>
            </a:r>
          </a:p>
          <a:p>
            <a:pPr marL="571500" indent="-571500"/>
            <a:r>
              <a:rPr lang="en-US" dirty="0" smtClean="0">
                <a:latin typeface="Times New Roman" pitchFamily="18" charset="0"/>
                <a:cs typeface="Times New Roman" pitchFamily="18" charset="0"/>
              </a:rPr>
              <a:t>Now suppose user want to retrieve the data, but how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chemeClr val="accent2">
                    <a:lumMod val="75000"/>
                  </a:schemeClr>
                </a:solidFill>
                <a:latin typeface="Times New Roman" pitchFamily="18" charset="0"/>
                <a:cs typeface="Times New Roman" pitchFamily="18" charset="0"/>
              </a:rPr>
              <a:t>Problem</a:t>
            </a:r>
          </a:p>
          <a:p>
            <a:pPr marL="571500" indent="-571500">
              <a:buAutoNum type="romanLcParenR"/>
            </a:pPr>
            <a:r>
              <a:rPr lang="en-US" dirty="0" smtClean="0">
                <a:solidFill>
                  <a:schemeClr val="accent2">
                    <a:lumMod val="75000"/>
                  </a:schemeClr>
                </a:solidFill>
                <a:latin typeface="Times New Roman" pitchFamily="18" charset="0"/>
                <a:cs typeface="Times New Roman" pitchFamily="18" charset="0"/>
              </a:rPr>
              <a:t>User have to remember the track no., sector no.</a:t>
            </a:r>
          </a:p>
          <a:p>
            <a:pPr marL="571500" indent="-571500">
              <a:buAutoNum type="romanLcParenR"/>
            </a:pPr>
            <a:r>
              <a:rPr lang="en-US" dirty="0" smtClean="0">
                <a:solidFill>
                  <a:schemeClr val="accent2">
                    <a:lumMod val="75000"/>
                  </a:schemeClr>
                </a:solidFill>
                <a:latin typeface="Times New Roman" pitchFamily="18" charset="0"/>
                <a:cs typeface="Times New Roman" pitchFamily="18" charset="0"/>
              </a:rPr>
              <a:t>If another user write p2.c program where p1.c is stored then the program is overwritten</a:t>
            </a:r>
          </a:p>
          <a:p>
            <a:pPr marL="571500" indent="-571500">
              <a:buNone/>
            </a:pPr>
            <a:r>
              <a:rPr lang="en-US" dirty="0" smtClean="0">
                <a:latin typeface="Times New Roman" pitchFamily="18" charset="0"/>
                <a:cs typeface="Times New Roman" pitchFamily="18" charset="0"/>
              </a:rPr>
              <a:t>     So for the management of resource OS is required</a:t>
            </a:r>
            <a:r>
              <a:rPr lang="en-US" dirty="0" smtClean="0">
                <a:solidFill>
                  <a:schemeClr val="accent2">
                    <a:lumMod val="75000"/>
                  </a:schemeClr>
                </a:solidFill>
                <a:latin typeface="Times New Roman" pitchFamily="18" charset="0"/>
                <a:cs typeface="Times New Roman" pitchFamily="18" charset="0"/>
              </a:rPr>
              <a:t> </a:t>
            </a:r>
            <a:endParaRPr lang="en-US" dirty="0">
              <a:solidFill>
                <a:schemeClr val="accent2">
                  <a:lumMod val="7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50000"/>
                  </a:schemeClr>
                </a:solidFill>
                <a:latin typeface="Times New Roman" pitchFamily="18" charset="0"/>
                <a:cs typeface="Times New Roman" pitchFamily="18" charset="0"/>
              </a:rPr>
              <a:t>Purpose of OS</a:t>
            </a:r>
            <a:endParaRPr lang="en-US" dirty="0">
              <a:solidFill>
                <a:schemeClr val="tx2">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a:t>
            </a:r>
            <a:r>
              <a:rPr lang="en-US" dirty="0">
                <a:latin typeface="Times New Roman" pitchFamily="18" charset="0"/>
                <a:cs typeface="Times New Roman" pitchFamily="18" charset="0"/>
              </a:rPr>
              <a:t>P</a:t>
            </a:r>
            <a:r>
              <a:rPr lang="en-US" dirty="0" smtClean="0">
                <a:latin typeface="Times New Roman" pitchFamily="18" charset="0"/>
                <a:cs typeface="Times New Roman" pitchFamily="18" charset="0"/>
              </a:rPr>
              <a:t>rimary purpose  is to provide user convenience</a:t>
            </a:r>
          </a:p>
          <a:p>
            <a:pPr>
              <a:buNone/>
            </a:pPr>
            <a:endParaRPr lang="en-US" dirty="0" smtClean="0">
              <a:latin typeface="Times New Roman" pitchFamily="18" charset="0"/>
              <a:cs typeface="Times New Roman" pitchFamily="18" charset="0"/>
            </a:endParaRPr>
          </a:p>
          <a:p>
            <a:pPr>
              <a:buFont typeface="Wingdings" pitchFamily="2" charset="2"/>
              <a:buChar char="q"/>
            </a:pPr>
            <a:r>
              <a:rPr lang="en-US" dirty="0" smtClean="0">
                <a:latin typeface="Times New Roman" pitchFamily="18" charset="0"/>
                <a:cs typeface="Times New Roman" pitchFamily="18" charset="0"/>
              </a:rPr>
              <a:t> Secondary purpose is to manage all the resources of the computer system</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 Services</a:t>
            </a:r>
            <a:endParaRPr lang="en-US" dirty="0"/>
          </a:p>
        </p:txBody>
      </p:sp>
      <p:sp>
        <p:nvSpPr>
          <p:cNvPr id="3" name="Content Placeholder 2"/>
          <p:cNvSpPr>
            <a:spLocks noGrp="1"/>
          </p:cNvSpPr>
          <p:nvPr>
            <p:ph idx="1"/>
          </p:nvPr>
        </p:nvSpPr>
        <p:spPr/>
        <p:txBody>
          <a:bodyPr/>
          <a:lstStyle/>
          <a:p>
            <a:r>
              <a:rPr lang="en-US" dirty="0" smtClean="0"/>
              <a:t>Q  As a user what services you want from OS?</a:t>
            </a:r>
          </a:p>
          <a:p>
            <a:pPr>
              <a:buNone/>
            </a:pPr>
            <a:r>
              <a:rPr lang="en-US" dirty="0" smtClean="0"/>
              <a:t>OS should do all these for a user</a:t>
            </a:r>
          </a:p>
          <a:p>
            <a:pPr marL="571500" indent="-571500">
              <a:buAutoNum type="romanLcParenBoth"/>
            </a:pPr>
            <a:r>
              <a:rPr lang="en-US" dirty="0" smtClean="0"/>
              <a:t>Resource Management</a:t>
            </a:r>
          </a:p>
          <a:p>
            <a:pPr marL="571500" indent="-571500">
              <a:buAutoNum type="romanLcParenBoth"/>
            </a:pPr>
            <a:r>
              <a:rPr lang="en-US" dirty="0" smtClean="0"/>
              <a:t>Provide GUI</a:t>
            </a:r>
          </a:p>
          <a:p>
            <a:pPr marL="571500" indent="-571500">
              <a:buAutoNum type="romanLcParenBoth"/>
            </a:pPr>
            <a:r>
              <a:rPr lang="en-US" dirty="0" smtClean="0"/>
              <a:t>Provide Security</a:t>
            </a:r>
          </a:p>
          <a:p>
            <a:pPr marL="571500" indent="-571500">
              <a:buAutoNum type="romanLcParenBoth"/>
            </a:pPr>
            <a:r>
              <a:rPr lang="en-US" dirty="0" smtClean="0"/>
              <a:t>Support different versions of H/W</a:t>
            </a:r>
          </a:p>
          <a:p>
            <a:pPr marL="571500" indent="-571500">
              <a:buAutoNum type="romanLcParenBoth"/>
            </a:pPr>
            <a:r>
              <a:rPr lang="en-US" dirty="0" smtClean="0"/>
              <a:t>Support Multitasking etc.</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50000"/>
                  </a:schemeClr>
                </a:solidFill>
                <a:latin typeface="Times New Roman" pitchFamily="18" charset="0"/>
                <a:cs typeface="Times New Roman" pitchFamily="18" charset="0"/>
              </a:rPr>
              <a:t>Why is Booting Required ?</a:t>
            </a:r>
            <a:endParaRPr lang="en-US" dirty="0">
              <a:solidFill>
                <a:schemeClr val="tx2">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lnSpc>
                <a:spcPct val="90000"/>
              </a:lnSpc>
            </a:pPr>
            <a:r>
              <a:rPr lang="en-US" sz="2800" dirty="0" smtClean="0">
                <a:latin typeface="Times New Roman" pitchFamily="18" charset="0"/>
                <a:cs typeface="Times New Roman" pitchFamily="18" charset="0"/>
              </a:rPr>
              <a:t>Hardware doesn’t know where the operating system resides and how to load it.</a:t>
            </a:r>
          </a:p>
          <a:p>
            <a:pPr algn="just">
              <a:lnSpc>
                <a:spcPct val="90000"/>
              </a:lnSpc>
              <a:buNone/>
            </a:pPr>
            <a:endParaRPr lang="en-US" sz="2800" dirty="0" smtClean="0">
              <a:latin typeface="Times New Roman" pitchFamily="18" charset="0"/>
              <a:cs typeface="Times New Roman" pitchFamily="18" charset="0"/>
            </a:endParaRPr>
          </a:p>
          <a:p>
            <a:pPr algn="just">
              <a:lnSpc>
                <a:spcPct val="90000"/>
              </a:lnSpc>
            </a:pPr>
            <a:r>
              <a:rPr lang="en-US" sz="2800" dirty="0" smtClean="0">
                <a:latin typeface="Times New Roman" pitchFamily="18" charset="0"/>
                <a:cs typeface="Times New Roman" pitchFamily="18" charset="0"/>
              </a:rPr>
              <a:t>Need a special program to do this job – </a:t>
            </a:r>
            <a:r>
              <a:rPr lang="en-US" sz="2800" dirty="0" smtClean="0">
                <a:solidFill>
                  <a:schemeClr val="hlink"/>
                </a:solidFill>
                <a:latin typeface="Times New Roman" pitchFamily="18" charset="0"/>
                <a:cs typeface="Times New Roman" pitchFamily="18" charset="0"/>
              </a:rPr>
              <a:t>Bootstrap</a:t>
            </a:r>
            <a:r>
              <a:rPr lang="en-US" sz="2800" dirty="0" smtClean="0">
                <a:latin typeface="Times New Roman" pitchFamily="18" charset="0"/>
                <a:cs typeface="Times New Roman" pitchFamily="18" charset="0"/>
              </a:rPr>
              <a:t> loader. </a:t>
            </a:r>
          </a:p>
          <a:p>
            <a:pPr lvl="1" algn="just">
              <a:lnSpc>
                <a:spcPct val="90000"/>
              </a:lnSpc>
            </a:pPr>
            <a:r>
              <a:rPr lang="en-US" sz="2400" dirty="0" smtClean="0">
                <a:latin typeface="Times New Roman" pitchFamily="18" charset="0"/>
                <a:cs typeface="Times New Roman" pitchFamily="18" charset="0"/>
              </a:rPr>
              <a:t>E.g. BIOS – Boot Input Output System.</a:t>
            </a:r>
          </a:p>
          <a:p>
            <a:pPr lvl="1" algn="just">
              <a:lnSpc>
                <a:spcPct val="90000"/>
              </a:lnSpc>
              <a:buNone/>
            </a:pPr>
            <a:endParaRPr lang="en-US" sz="2400" dirty="0" smtClean="0">
              <a:latin typeface="Times New Roman" pitchFamily="18" charset="0"/>
              <a:cs typeface="Times New Roman" pitchFamily="18" charset="0"/>
            </a:endParaRPr>
          </a:p>
          <a:p>
            <a:pPr algn="just">
              <a:lnSpc>
                <a:spcPct val="90000"/>
              </a:lnSpc>
            </a:pPr>
            <a:r>
              <a:rPr lang="en-US" sz="2800" dirty="0" smtClean="0">
                <a:latin typeface="Times New Roman" pitchFamily="18" charset="0"/>
                <a:cs typeface="Times New Roman" pitchFamily="18" charset="0"/>
              </a:rPr>
              <a:t>Bootstrap loader locates the kernel, loads it into main memory and starts its execution.</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a:buNone/>
            </a:pPr>
            <a:endParaRPr lang="en-US" dirty="0" smtClean="0"/>
          </a:p>
        </p:txBody>
      </p:sp>
      <p:sp>
        <p:nvSpPr>
          <p:cNvPr id="5" name="TextBox 4"/>
          <p:cNvSpPr txBox="1"/>
          <p:nvPr/>
        </p:nvSpPr>
        <p:spPr>
          <a:xfrm>
            <a:off x="1752600" y="1295400"/>
            <a:ext cx="3581400" cy="369332"/>
          </a:xfrm>
          <a:prstGeom prst="rect">
            <a:avLst/>
          </a:prstGeom>
          <a:noFill/>
        </p:spPr>
        <p:txBody>
          <a:bodyPr wrap="square" rtlCol="0">
            <a:spAutoFit/>
          </a:bodyPr>
          <a:lstStyle/>
          <a:p>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524000" y="304800"/>
            <a:ext cx="5562600" cy="6019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50000"/>
                  </a:schemeClr>
                </a:solidFill>
                <a:latin typeface="Times New Roman" pitchFamily="18" charset="0"/>
                <a:cs typeface="Times New Roman" pitchFamily="18" charset="0"/>
              </a:rPr>
              <a:t>Secondary Boot Loaders</a:t>
            </a:r>
            <a:endParaRPr lang="en-US" dirty="0">
              <a:solidFill>
                <a:schemeClr val="tx2">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sz="2800" dirty="0" smtClean="0">
                <a:latin typeface="Times New Roman" pitchFamily="18" charset="0"/>
                <a:cs typeface="Times New Roman" pitchFamily="18" charset="0"/>
              </a:rPr>
              <a:t>If there is no active partition or the active partition's boot sector is invalid, the MBR may load a secondary boot loader and pass control to it and this secondary boot loader will select a partition (often via user input) and load its boot sector.</a:t>
            </a:r>
          </a:p>
          <a:p>
            <a:r>
              <a:rPr lang="en-US" sz="2800" dirty="0" smtClean="0">
                <a:latin typeface="Times New Roman" pitchFamily="18" charset="0"/>
                <a:cs typeface="Times New Roman" pitchFamily="18" charset="0"/>
              </a:rPr>
              <a:t>Examples of secondary boot loaders</a:t>
            </a:r>
          </a:p>
          <a:p>
            <a:pPr lvl="1"/>
            <a:r>
              <a:rPr lang="en-US" sz="2400" dirty="0" smtClean="0">
                <a:latin typeface="Times New Roman" pitchFamily="18" charset="0"/>
                <a:cs typeface="Times New Roman" pitchFamily="18" charset="0"/>
              </a:rPr>
              <a:t>GRUB – </a:t>
            </a:r>
            <a:r>
              <a:rPr lang="en-US" sz="2400" dirty="0" err="1" smtClean="0">
                <a:latin typeface="Times New Roman" pitchFamily="18" charset="0"/>
                <a:cs typeface="Times New Roman" pitchFamily="18" charset="0"/>
              </a:rPr>
              <a:t>GRand</a:t>
            </a:r>
            <a:r>
              <a:rPr lang="en-US" sz="2400" dirty="0" smtClean="0">
                <a:latin typeface="Times New Roman" pitchFamily="18" charset="0"/>
                <a:cs typeface="Times New Roman" pitchFamily="18" charset="0"/>
              </a:rPr>
              <a:t> Unified </a:t>
            </a:r>
            <a:r>
              <a:rPr lang="en-US" sz="2400" dirty="0" err="1" smtClean="0">
                <a:latin typeface="Times New Roman" pitchFamily="18" charset="0"/>
                <a:cs typeface="Times New Roman" pitchFamily="18" charset="0"/>
              </a:rPr>
              <a:t>Bootloader</a:t>
            </a:r>
            <a:endParaRPr lang="en-US" sz="2400" dirty="0" smtClean="0">
              <a:latin typeface="Times New Roman" pitchFamily="18" charset="0"/>
              <a:cs typeface="Times New Roman" pitchFamily="18" charset="0"/>
            </a:endParaRPr>
          </a:p>
          <a:p>
            <a:pPr lvl="1"/>
            <a:r>
              <a:rPr lang="en-US" sz="2400" dirty="0" smtClean="0">
                <a:latin typeface="Times New Roman" pitchFamily="18" charset="0"/>
                <a:cs typeface="Times New Roman" pitchFamily="18" charset="0"/>
              </a:rPr>
              <a:t>LILO – </a:t>
            </a:r>
            <a:r>
              <a:rPr lang="en-US" sz="2400" dirty="0" err="1" smtClean="0">
                <a:latin typeface="Times New Roman" pitchFamily="18" charset="0"/>
                <a:cs typeface="Times New Roman" pitchFamily="18" charset="0"/>
              </a:rPr>
              <a:t>LInux</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LOader</a:t>
            </a:r>
            <a:endParaRPr lang="en-US" sz="2400" dirty="0" smtClean="0">
              <a:latin typeface="Times New Roman" pitchFamily="18" charset="0"/>
              <a:cs typeface="Times New Roman" pitchFamily="18" charset="0"/>
            </a:endParaRPr>
          </a:p>
          <a:p>
            <a:pPr lvl="1"/>
            <a:r>
              <a:rPr lang="en-US" sz="2400" dirty="0" smtClean="0">
                <a:latin typeface="Times New Roman" pitchFamily="18" charset="0"/>
                <a:cs typeface="Times New Roman" pitchFamily="18" charset="0"/>
              </a:rPr>
              <a:t>NTLDR – NT Loader</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tx2">
                    <a:lumMod val="50000"/>
                  </a:schemeClr>
                </a:solidFill>
                <a:latin typeface="Times New Roman" pitchFamily="18" charset="0"/>
                <a:ea typeface="Arial Unicode MS" pitchFamily="34" charset="-128"/>
                <a:cs typeface="Times New Roman" pitchFamily="18" charset="0"/>
              </a:rPr>
              <a:t>GRUB:</a:t>
            </a:r>
            <a:r>
              <a:rPr lang="th-TH" dirty="0" smtClean="0">
                <a:solidFill>
                  <a:schemeClr val="tx2">
                    <a:lumMod val="50000"/>
                  </a:schemeClr>
                </a:solidFill>
                <a:latin typeface="Times New Roman" pitchFamily="18" charset="0"/>
                <a:ea typeface="Arial Unicode MS" pitchFamily="34" charset="-128"/>
                <a:cs typeface="Arial Unicode MS" pitchFamily="34" charset="-128"/>
              </a:rPr>
              <a:t> GRand Unified Bootloader</a:t>
            </a:r>
            <a:endParaRPr lang="en-US" dirty="0">
              <a:solidFill>
                <a:schemeClr val="tx2">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itchFamily="18" charset="0"/>
                <a:cs typeface="Times New Roman" pitchFamily="18" charset="0"/>
              </a:rPr>
              <a:t>GRUB is an operating system independent boot loader </a:t>
            </a:r>
          </a:p>
          <a:p>
            <a:r>
              <a:rPr lang="en-US" dirty="0" smtClean="0">
                <a:latin typeface="Times New Roman" pitchFamily="18" charset="0"/>
                <a:cs typeface="Times New Roman" pitchFamily="18" charset="0"/>
              </a:rPr>
              <a:t>A </a:t>
            </a:r>
            <a:r>
              <a:rPr lang="en-US" dirty="0" err="1" smtClean="0">
                <a:latin typeface="Times New Roman" pitchFamily="18" charset="0"/>
                <a:cs typeface="Times New Roman" pitchFamily="18" charset="0"/>
              </a:rPr>
              <a:t>multiboot</a:t>
            </a:r>
            <a:r>
              <a:rPr lang="en-US" dirty="0" smtClean="0">
                <a:latin typeface="Times New Roman" pitchFamily="18" charset="0"/>
                <a:cs typeface="Times New Roman" pitchFamily="18" charset="0"/>
              </a:rPr>
              <a:t> software packet from GNU</a:t>
            </a:r>
          </a:p>
          <a:p>
            <a:r>
              <a:rPr lang="en-US" dirty="0" smtClean="0">
                <a:latin typeface="Times New Roman" pitchFamily="18" charset="0"/>
                <a:cs typeface="Times New Roman" pitchFamily="18" charset="0"/>
              </a:rPr>
              <a:t>Flexible command line interface</a:t>
            </a:r>
          </a:p>
          <a:p>
            <a:r>
              <a:rPr lang="en-US" dirty="0" smtClean="0">
                <a:latin typeface="Times New Roman" pitchFamily="18" charset="0"/>
                <a:cs typeface="Times New Roman" pitchFamily="18" charset="0"/>
              </a:rPr>
              <a:t>File system access</a:t>
            </a:r>
          </a:p>
          <a:p>
            <a:r>
              <a:rPr lang="en-US" dirty="0" smtClean="0">
                <a:latin typeface="Times New Roman" pitchFamily="18" charset="0"/>
                <a:cs typeface="Times New Roman" pitchFamily="18" charset="0"/>
              </a:rPr>
              <a:t>Support multiple executable format</a:t>
            </a:r>
          </a:p>
          <a:p>
            <a:r>
              <a:rPr lang="en-US" dirty="0" smtClean="0">
                <a:latin typeface="Times New Roman" pitchFamily="18" charset="0"/>
                <a:cs typeface="Times New Roman" pitchFamily="18" charset="0"/>
              </a:rPr>
              <a:t>Support diskless system</a:t>
            </a:r>
          </a:p>
          <a:p>
            <a:r>
              <a:rPr lang="en-US" dirty="0" smtClean="0">
                <a:latin typeface="Times New Roman" pitchFamily="18" charset="0"/>
                <a:cs typeface="Times New Roman" pitchFamily="18" charset="0"/>
              </a:rPr>
              <a:t>Download OS from network</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50000"/>
                  </a:schemeClr>
                </a:solidFill>
                <a:latin typeface="Times New Roman" pitchFamily="18" charset="0"/>
                <a:cs typeface="Times New Roman" pitchFamily="18" charset="0"/>
              </a:rPr>
              <a:t>GRUB boot process</a:t>
            </a:r>
            <a:endParaRPr lang="en-US" dirty="0">
              <a:solidFill>
                <a:schemeClr val="tx2">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marL="552450" indent="-552450">
              <a:lnSpc>
                <a:spcPct val="120000"/>
              </a:lnSpc>
              <a:buFont typeface="Wingdings" pitchFamily="2" charset="2"/>
              <a:buAutoNum type="arabicPeriod"/>
            </a:pPr>
            <a:r>
              <a:rPr lang="en-US" dirty="0" smtClean="0">
                <a:latin typeface="Times New Roman" pitchFamily="18" charset="0"/>
                <a:cs typeface="Times New Roman" pitchFamily="18" charset="0"/>
              </a:rPr>
              <a:t>The BIOS finds a bootable device (hard disk) and transfers control to the master boot record </a:t>
            </a:r>
          </a:p>
          <a:p>
            <a:pPr marL="552450" indent="-552450">
              <a:lnSpc>
                <a:spcPct val="120000"/>
              </a:lnSpc>
              <a:buFont typeface="Wingdings" pitchFamily="2" charset="2"/>
              <a:buAutoNum type="arabicPeriod"/>
            </a:pPr>
            <a:r>
              <a:rPr lang="en-US" dirty="0" smtClean="0">
                <a:latin typeface="Times New Roman" pitchFamily="18" charset="0"/>
                <a:cs typeface="Times New Roman" pitchFamily="18" charset="0"/>
              </a:rPr>
              <a:t>The MBR contains GRUB stage 1. Given the small size of the MBR, Stage 1 immediately loads the next stage of GRUB</a:t>
            </a:r>
            <a:endParaRPr lang="th-TH" dirty="0" smtClean="0">
              <a:latin typeface="Times New Roman" pitchFamily="18" charset="0"/>
            </a:endParaRPr>
          </a:p>
          <a:p>
            <a:pPr marL="552450" indent="-552450">
              <a:lnSpc>
                <a:spcPct val="120000"/>
              </a:lnSpc>
              <a:buFont typeface="Wingdings" pitchFamily="2" charset="2"/>
              <a:buAutoNum type="arabicPeriod"/>
            </a:pPr>
            <a:r>
              <a:rPr lang="en-US" dirty="0" smtClean="0">
                <a:latin typeface="Times New Roman" pitchFamily="18" charset="0"/>
                <a:cs typeface="Times New Roman" pitchFamily="18" charset="0"/>
              </a:rPr>
              <a:t>GRUB Stage 1.5 is located in the first 30 kilobytes of hard disk immediately following the MBR. Stage 1.5 loads Stage 2.</a:t>
            </a:r>
            <a:endParaRPr lang="th-TH" dirty="0" smtClean="0">
              <a:latin typeface="Times New Roman" pitchFamily="18" charset="0"/>
            </a:endParaRPr>
          </a:p>
          <a:p>
            <a:pPr marL="552450" indent="-552450">
              <a:lnSpc>
                <a:spcPct val="120000"/>
              </a:lnSpc>
              <a:buFont typeface="Wingdings" pitchFamily="2" charset="2"/>
              <a:buAutoNum type="arabicPeriod"/>
            </a:pPr>
            <a:r>
              <a:rPr lang="en-US" dirty="0" smtClean="0">
                <a:latin typeface="Times New Roman" pitchFamily="18" charset="0"/>
                <a:cs typeface="Times New Roman" pitchFamily="18" charset="0"/>
              </a:rPr>
              <a:t>GRUB Stage 2 receives control, and displays to the user the GRUB boot menu (where the user can manually specify the boot parameters). </a:t>
            </a:r>
            <a:endParaRPr lang="th-TH" dirty="0" smtClean="0">
              <a:latin typeface="Times New Roman" pitchFamily="18" charset="0"/>
            </a:endParaRPr>
          </a:p>
          <a:p>
            <a:pPr marL="552450" indent="-552450">
              <a:lnSpc>
                <a:spcPct val="120000"/>
              </a:lnSpc>
              <a:buFont typeface="Wingdings" pitchFamily="2" charset="2"/>
              <a:buAutoNum type="arabicPeriod"/>
            </a:pPr>
            <a:r>
              <a:rPr lang="en-US" dirty="0" smtClean="0">
                <a:latin typeface="Times New Roman" pitchFamily="18" charset="0"/>
                <a:cs typeface="Times New Roman" pitchFamily="18" charset="0"/>
              </a:rPr>
              <a:t>GRUB loads the user-selected (or default) kernel into memory and passes control on to the kernel. </a:t>
            </a:r>
            <a:endParaRPr lang="th-TH" dirty="0" smtClean="0">
              <a:latin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75000"/>
                  </a:schemeClr>
                </a:solidFill>
                <a:latin typeface="Times New Roman" pitchFamily="18" charset="0"/>
                <a:cs typeface="Times New Roman" pitchFamily="18" charset="0"/>
              </a:rPr>
              <a:t>Example GRUB config file</a:t>
            </a:r>
            <a:endParaRPr lang="en-US" dirty="0">
              <a:solidFill>
                <a:schemeClr val="tx2">
                  <a:lumMod val="75000"/>
                </a:schemeClr>
              </a:solidFill>
              <a:latin typeface="Times New Roman" pitchFamily="18" charset="0"/>
              <a:cs typeface="Times New Roman" pitchFamily="18" charset="0"/>
            </a:endParaRPr>
          </a:p>
        </p:txBody>
      </p:sp>
      <p:pic>
        <p:nvPicPr>
          <p:cNvPr id="4" name="Picture 4" descr="Gnu_grub_config_file"/>
          <p:cNvPicPr>
            <a:picLocks noGrp="1" noChangeAspect="1" noChangeArrowheads="1"/>
          </p:cNvPicPr>
          <p:nvPr>
            <p:ph idx="1"/>
          </p:nvPr>
        </p:nvPicPr>
        <p:blipFill>
          <a:blip r:embed="rId2" cstate="print"/>
          <a:srcRect/>
          <a:stretch>
            <a:fillRect/>
          </a:stretch>
        </p:blipFill>
        <p:spPr>
          <a:xfrm>
            <a:off x="858092" y="1600200"/>
            <a:ext cx="7427815" cy="4525963"/>
          </a:xfrm>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75000"/>
                  </a:schemeClr>
                </a:solidFill>
                <a:latin typeface="Times New Roman" pitchFamily="18" charset="0"/>
                <a:cs typeface="Times New Roman" pitchFamily="18" charset="0"/>
              </a:rPr>
              <a:t>Kernel</a:t>
            </a:r>
            <a:endParaRPr lang="en-US" dirty="0">
              <a:solidFill>
                <a:schemeClr val="tx2">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10000"/>
              </a:lnSpc>
            </a:pPr>
            <a:r>
              <a:rPr lang="en-US" dirty="0" smtClean="0">
                <a:latin typeface="Times New Roman" pitchFamily="18" charset="0"/>
                <a:cs typeface="Times New Roman" pitchFamily="18" charset="0"/>
              </a:rPr>
              <a:t>The kernel is the central part in most computer operating systems because of its task, which is the management of the system's resources and the communication between hardware and software components</a:t>
            </a:r>
          </a:p>
          <a:p>
            <a:pPr algn="just">
              <a:lnSpc>
                <a:spcPct val="110000"/>
              </a:lnSpc>
            </a:pPr>
            <a:r>
              <a:rPr lang="en-US" dirty="0" smtClean="0">
                <a:latin typeface="Times New Roman" pitchFamily="18" charset="0"/>
                <a:cs typeface="Times New Roman" pitchFamily="18" charset="0"/>
              </a:rPr>
              <a:t>Kernel is always store on memory until computer is turn off</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75000"/>
                  </a:schemeClr>
                </a:solidFill>
                <a:latin typeface="Times New Roman" pitchFamily="18" charset="0"/>
                <a:cs typeface="Times New Roman" pitchFamily="18" charset="0"/>
              </a:rPr>
              <a:t>Init process</a:t>
            </a:r>
            <a:endParaRPr lang="en-US" dirty="0">
              <a:solidFill>
                <a:schemeClr val="tx2">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algn="just">
              <a:lnSpc>
                <a:spcPct val="90000"/>
              </a:lnSpc>
            </a:pPr>
            <a:r>
              <a:rPr lang="en-US" sz="2800" dirty="0" smtClean="0">
                <a:latin typeface="Times New Roman" pitchFamily="18" charset="0"/>
                <a:cs typeface="Times New Roman" pitchFamily="18" charset="0"/>
              </a:rPr>
              <a:t>The first thing the kernel does is to execute init program</a:t>
            </a:r>
          </a:p>
          <a:p>
            <a:pPr algn="just">
              <a:lnSpc>
                <a:spcPct val="90000"/>
              </a:lnSpc>
            </a:pPr>
            <a:r>
              <a:rPr lang="en-US" sz="2800" dirty="0" smtClean="0">
                <a:latin typeface="Times New Roman" pitchFamily="18" charset="0"/>
                <a:cs typeface="Times New Roman" pitchFamily="18" charset="0"/>
              </a:rPr>
              <a:t>Init is the root/parent of all processes executing on Linux</a:t>
            </a:r>
          </a:p>
          <a:p>
            <a:pPr algn="just">
              <a:lnSpc>
                <a:spcPct val="90000"/>
              </a:lnSpc>
            </a:pPr>
            <a:r>
              <a:rPr lang="en-US" sz="2800" dirty="0" smtClean="0">
                <a:latin typeface="Times New Roman" pitchFamily="18" charset="0"/>
                <a:cs typeface="Times New Roman" pitchFamily="18" charset="0"/>
              </a:rPr>
              <a:t>The first processes that init starts is a script /etc/</a:t>
            </a:r>
            <a:r>
              <a:rPr lang="en-US" sz="2800" dirty="0" err="1" smtClean="0">
                <a:latin typeface="Times New Roman" pitchFamily="18" charset="0"/>
                <a:cs typeface="Times New Roman" pitchFamily="18" charset="0"/>
              </a:rPr>
              <a:t>rc.d</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rc.sysinit</a:t>
            </a:r>
            <a:r>
              <a:rPr lang="th-TH" sz="2800" dirty="0" smtClean="0">
                <a:latin typeface="Times New Roman" pitchFamily="18" charset="0"/>
              </a:rPr>
              <a:t> </a:t>
            </a:r>
            <a:endParaRPr lang="en-US" sz="2800" dirty="0">
              <a:latin typeface="Times New Roman" pitchFamily="18" charset="0"/>
              <a:cs typeface="Times New Roman" pitchFamily="18" charset="0"/>
            </a:endParaRPr>
          </a:p>
          <a:p>
            <a:pPr algn="just">
              <a:lnSpc>
                <a:spcPct val="90000"/>
              </a:lnSpc>
            </a:pPr>
            <a:r>
              <a:rPr lang="en-US" sz="2800" dirty="0" smtClean="0">
                <a:latin typeface="Times New Roman" pitchFamily="18" charset="0"/>
                <a:cs typeface="Times New Roman" pitchFamily="18" charset="0"/>
              </a:rPr>
              <a:t>The init process is identified by process id "1“</a:t>
            </a:r>
          </a:p>
          <a:p>
            <a:pPr algn="just">
              <a:lnSpc>
                <a:spcPct val="90000"/>
              </a:lnSpc>
            </a:pPr>
            <a:r>
              <a:rPr lang="en-US" sz="2800" dirty="0" smtClean="0">
                <a:latin typeface="Times New Roman" pitchFamily="18" charset="0"/>
                <a:cs typeface="Times New Roman" pitchFamily="18" charset="0"/>
              </a:rPr>
              <a:t>Init is responsible for starting system processes as defined in the /etc/</a:t>
            </a:r>
            <a:r>
              <a:rPr lang="en-US" sz="2800" dirty="0" err="1" smtClean="0">
                <a:latin typeface="Times New Roman" pitchFamily="18" charset="0"/>
                <a:cs typeface="Times New Roman" pitchFamily="18" charset="0"/>
              </a:rPr>
              <a:t>inittab</a:t>
            </a:r>
            <a:r>
              <a:rPr lang="en-US" sz="2800" dirty="0" smtClean="0">
                <a:latin typeface="Times New Roman" pitchFamily="18" charset="0"/>
                <a:cs typeface="Times New Roman" pitchFamily="18" charset="0"/>
              </a:rPr>
              <a:t> file</a:t>
            </a:r>
          </a:p>
          <a:p>
            <a:pPr algn="just">
              <a:lnSpc>
                <a:spcPct val="90000"/>
              </a:lnSpc>
            </a:pPr>
            <a:r>
              <a:rPr lang="th-TH" sz="2800" dirty="0" smtClean="0">
                <a:latin typeface="Times New Roman" pitchFamily="18" charset="0"/>
              </a:rPr>
              <a:t>Init typically will start multiple instances of "getty" which waits for console logins which spawn one's user shell process </a:t>
            </a:r>
            <a:endParaRPr lang="en-US" sz="2800" dirty="0">
              <a:latin typeface="Times New Roman" pitchFamily="18" charset="0"/>
              <a:cs typeface="Times New Roman" pitchFamily="18" charset="0"/>
            </a:endParaRPr>
          </a:p>
          <a:p>
            <a:pPr algn="just">
              <a:lnSpc>
                <a:spcPct val="90000"/>
              </a:lnSpc>
            </a:pPr>
            <a:r>
              <a:rPr lang="th-TH" sz="2800" dirty="0" smtClean="0">
                <a:latin typeface="Times New Roman" pitchFamily="18" charset="0"/>
              </a:rPr>
              <a:t>Upon shutdown, init controls the sequence and processes for shutdown </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75000"/>
                  </a:schemeClr>
                </a:solidFill>
                <a:latin typeface="Times New Roman" pitchFamily="18" charset="0"/>
                <a:cs typeface="Times New Roman" pitchFamily="18" charset="0"/>
              </a:rPr>
              <a:t>Unix file system</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r>
              <a:rPr lang="en-US" sz="2400" dirty="0" smtClean="0">
                <a:latin typeface="Times New Roman" pitchFamily="18" charset="0"/>
                <a:cs typeface="Times New Roman" pitchFamily="18" charset="0"/>
              </a:rPr>
              <a:t>This is the structure of Unix file system which is divided in to two parts – </a:t>
            </a:r>
          </a:p>
          <a:p>
            <a:pPr>
              <a:buFont typeface="Wingdings" pitchFamily="2" charset="2"/>
              <a:buChar char="Ø"/>
            </a:pPr>
            <a:r>
              <a:rPr lang="en-US" sz="2400" dirty="0" smtClean="0">
                <a:latin typeface="Times New Roman" pitchFamily="18" charset="0"/>
                <a:cs typeface="Times New Roman" pitchFamily="18" charset="0"/>
              </a:rPr>
              <a:t>File system area</a:t>
            </a:r>
          </a:p>
          <a:p>
            <a:pPr>
              <a:buFont typeface="Wingdings" pitchFamily="2" charset="2"/>
              <a:buChar char="Ø"/>
            </a:pPr>
            <a:r>
              <a:rPr lang="en-US" sz="2400" dirty="0" smtClean="0">
                <a:latin typeface="Times New Roman" pitchFamily="18" charset="0"/>
                <a:cs typeface="Times New Roman" pitchFamily="18" charset="0"/>
              </a:rPr>
              <a:t>User area</a:t>
            </a:r>
            <a:endParaRPr lang="en-US" sz="24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3886200" y="2209800"/>
            <a:ext cx="3733800" cy="4038600"/>
          </a:xfrm>
          <a:prstGeom prst="rect">
            <a:avLst/>
          </a:prstGeom>
          <a:noFill/>
          <a:ln w="9525">
            <a:noFill/>
            <a:miter lim="800000"/>
            <a:headEnd/>
            <a:tailEnd/>
          </a:ln>
          <a:effectLst/>
        </p:spPr>
      </p:pic>
      <p:sp>
        <p:nvSpPr>
          <p:cNvPr id="5" name="TextBox 4"/>
          <p:cNvSpPr txBox="1"/>
          <p:nvPr/>
        </p:nvSpPr>
        <p:spPr>
          <a:xfrm>
            <a:off x="4800600" y="3657600"/>
            <a:ext cx="990600" cy="830997"/>
          </a:xfrm>
          <a:prstGeom prst="rect">
            <a:avLst/>
          </a:prstGeom>
          <a:noFill/>
        </p:spPr>
        <p:txBody>
          <a:bodyPr wrap="square" rtlCol="0">
            <a:spAutoFit/>
          </a:bodyPr>
          <a:lstStyle/>
          <a:p>
            <a:r>
              <a:rPr lang="en-US" sz="2400" dirty="0" smtClean="0">
                <a:latin typeface="Times New Roman" pitchFamily="18" charset="0"/>
                <a:cs typeface="Times New Roman" pitchFamily="18" charset="0"/>
              </a:rPr>
              <a:t>Inode table</a:t>
            </a:r>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000" dirty="0" smtClean="0">
                <a:latin typeface="Times New Roman" pitchFamily="18" charset="0"/>
                <a:cs typeface="Times New Roman" pitchFamily="18" charset="0"/>
              </a:rPr>
              <a:t>Boot block – </a:t>
            </a:r>
          </a:p>
          <a:p>
            <a:pPr>
              <a:buFont typeface="Wingdings" pitchFamily="2" charset="2"/>
              <a:buChar char="Ø"/>
            </a:pPr>
            <a:r>
              <a:rPr lang="en-US" sz="2000" dirty="0" smtClean="0">
                <a:latin typeface="Times New Roman" pitchFamily="18" charset="0"/>
                <a:cs typeface="Times New Roman" pitchFamily="18" charset="0"/>
              </a:rPr>
              <a:t>Very first block created on Unix file system</a:t>
            </a:r>
          </a:p>
          <a:p>
            <a:pPr>
              <a:buFont typeface="Wingdings" pitchFamily="2" charset="2"/>
              <a:buChar char="Ø"/>
            </a:pPr>
            <a:r>
              <a:rPr lang="en-US" sz="2000" dirty="0" smtClean="0">
                <a:latin typeface="Times New Roman" pitchFamily="18" charset="0"/>
                <a:cs typeface="Times New Roman" pitchFamily="18" charset="0"/>
              </a:rPr>
              <a:t>Standard size = 512 byte</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Super block –</a:t>
            </a:r>
          </a:p>
          <a:p>
            <a:pPr>
              <a:buFont typeface="Wingdings" pitchFamily="2" charset="2"/>
              <a:buChar char="Ø"/>
            </a:pPr>
            <a:r>
              <a:rPr lang="en-US" sz="2000" dirty="0" smtClean="0">
                <a:latin typeface="Times New Roman" pitchFamily="18" charset="0"/>
                <a:cs typeface="Times New Roman" pitchFamily="18" charset="0"/>
              </a:rPr>
              <a:t>Containing the info. About first 50 free blocks</a:t>
            </a:r>
          </a:p>
          <a:p>
            <a:pPr>
              <a:buFont typeface="Wingdings" pitchFamily="2" charset="2"/>
              <a:buChar char="Ø"/>
            </a:pPr>
            <a:r>
              <a:rPr lang="en-US" sz="2000" dirty="0" smtClean="0">
                <a:latin typeface="Times New Roman" pitchFamily="18" charset="0"/>
                <a:cs typeface="Times New Roman" pitchFamily="18" charset="0"/>
              </a:rPr>
              <a:t>Standard size = 512 byte</a:t>
            </a:r>
          </a:p>
          <a:p>
            <a:pPr>
              <a:buFont typeface="Wingdings" pitchFamily="2" charset="2"/>
              <a:buChar char="Ø"/>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Inode table –</a:t>
            </a:r>
          </a:p>
          <a:p>
            <a:pPr>
              <a:buFont typeface="Wingdings" pitchFamily="2" charset="2"/>
              <a:buChar char="Ø"/>
            </a:pPr>
            <a:r>
              <a:rPr lang="en-US" sz="2000" dirty="0" smtClean="0">
                <a:latin typeface="Times New Roman" pitchFamily="18" charset="0"/>
                <a:cs typeface="Times New Roman" pitchFamily="18" charset="0"/>
              </a:rPr>
              <a:t>Inode size for Unix= 64 B, for Linux 128 B</a:t>
            </a:r>
          </a:p>
          <a:p>
            <a:pPr>
              <a:buFont typeface="Wingdings" pitchFamily="2" charset="2"/>
              <a:buChar char="Ø"/>
            </a:pPr>
            <a:r>
              <a:rPr lang="en-US" sz="2000" dirty="0" smtClean="0">
                <a:latin typeface="Times New Roman" pitchFamily="18" charset="0"/>
                <a:cs typeface="Times New Roman" pitchFamily="18" charset="0"/>
              </a:rPr>
              <a:t>Inode no. 1 containing the info. of bad blocks</a:t>
            </a:r>
          </a:p>
          <a:p>
            <a:pPr>
              <a:buFont typeface="Wingdings" pitchFamily="2" charset="2"/>
              <a:buChar char="Ø"/>
            </a:pPr>
            <a:r>
              <a:rPr lang="en-US" sz="2000" dirty="0" smtClean="0">
                <a:latin typeface="Times New Roman" pitchFamily="18" charset="0"/>
                <a:cs typeface="Times New Roman" pitchFamily="18" charset="0"/>
              </a:rPr>
              <a:t>Inode no. 2 containing the info. of  RDT</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Root Directory Table –</a:t>
            </a:r>
          </a:p>
          <a:p>
            <a:pPr>
              <a:buFont typeface="Wingdings" pitchFamily="2" charset="2"/>
              <a:buChar char="Ø"/>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It contains the file name and  Inode no.</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09800"/>
            <a:ext cx="8229600" cy="3916363"/>
          </a:xfrm>
        </p:spPr>
        <p:txBody>
          <a:bodyPr>
            <a:normAutofit/>
          </a:bodyPr>
          <a:lstStyle/>
          <a:p>
            <a:pPr algn="ctr">
              <a:buNone/>
            </a:pPr>
            <a:r>
              <a:rPr lang="en-US" sz="5400" dirty="0" smtClean="0">
                <a:solidFill>
                  <a:schemeClr val="accent6">
                    <a:lumMod val="75000"/>
                  </a:schemeClr>
                </a:solidFill>
                <a:latin typeface="Times New Roman" pitchFamily="18" charset="0"/>
                <a:cs typeface="Times New Roman" pitchFamily="18" charset="0"/>
              </a:rPr>
              <a:t>THANK YOU </a:t>
            </a:r>
            <a:endParaRPr lang="en-US" sz="5400" dirty="0">
              <a:solidFill>
                <a:schemeClr val="accent6">
                  <a:lumMod val="7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TotalTime>
  <Words>868</Words>
  <Application>Microsoft Office PowerPoint</Application>
  <PresentationFormat>On-screen Show (4:3)</PresentationFormat>
  <Paragraphs>129</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Fundamentals 0f Operating System</vt:lpstr>
      <vt:lpstr>Necessity of OS</vt:lpstr>
      <vt:lpstr>Example 1 </vt:lpstr>
      <vt:lpstr>Slide 4</vt:lpstr>
      <vt:lpstr>Slide 5</vt:lpstr>
      <vt:lpstr>Slide 6</vt:lpstr>
      <vt:lpstr>Slide 7</vt:lpstr>
      <vt:lpstr>Example 2</vt:lpstr>
      <vt:lpstr>Slide 9</vt:lpstr>
      <vt:lpstr>Purpose of OS</vt:lpstr>
      <vt:lpstr>OS Services</vt:lpstr>
      <vt:lpstr>Why is Booting Required ?</vt:lpstr>
      <vt:lpstr>Slide 13</vt:lpstr>
      <vt:lpstr>Secondary Boot Loaders</vt:lpstr>
      <vt:lpstr>GRUB: GRand Unified Bootloader</vt:lpstr>
      <vt:lpstr>GRUB boot process</vt:lpstr>
      <vt:lpstr>Example GRUB config file</vt:lpstr>
      <vt:lpstr>Kernel</vt:lpstr>
      <vt:lpstr>Init process</vt:lpstr>
      <vt:lpstr>Unix file system</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Operating System</dc:title>
  <dc:creator>SACHIN</dc:creator>
  <cp:lastModifiedBy>sachin</cp:lastModifiedBy>
  <cp:revision>60</cp:revision>
  <dcterms:created xsi:type="dcterms:W3CDTF">2006-12-31T21:04:16Z</dcterms:created>
  <dcterms:modified xsi:type="dcterms:W3CDTF">2007-01-02T03:14:38Z</dcterms:modified>
</cp:coreProperties>
</file>